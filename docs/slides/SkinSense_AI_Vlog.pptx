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74C3C"/>
                </a:solidFill>
              </a:rPr>
              <a:t>300,000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deaths every year from skin cancer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00C2D4"/>
                </a:solidFill>
              </a:rPr>
              <a:t>Most cases are caught too 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94760"/>
            <a:ext cx="5486400" cy="36576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 built an AI that can triage a skin lesion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D4"/>
                </a:solidFill>
              </a:rPr>
              <a:t>from a single photo — in under 3 seconds.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8521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SKIN TRIAGE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C2D4"/>
                </a:solidFill>
              </a:rPr>
              <a:t>CMP7229 Applied AI  |  Medical AI Conference  | 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2926080" cy="384048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D4"/>
                </a:solidFill>
              </a:rPr>
              <a:t>0:00 – 0:10  |  HOOK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10" fill="hold">
                        <p:stCondLst>
                          <p:cond delay="indefinite"/>
                        </p:stCondLst>
                        <p:childTnLst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2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3" dur="1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5" dur="80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evt="begin" delay="300">
                            <p:tn/>
                          </p:cond>
                        </p:stCondLst>
                        <p:childTnLst>
                          <p:par>
                            <p:cTn id="2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13" dur="1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15" dur="60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evt="begin" delay="600">
                            <p:tn/>
                          </p:cond>
                        </p:stCondLst>
                        <p:childTnLst>
                          <p:par>
                            <p:cTn id="2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3" dur="1" fill="hold"/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25" dur="60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evt="begin" delay="900">
                            <p:tn/>
                          </p:cond>
                        </p:stCondLst>
                        <p:childTnLst>
                          <p:par>
                            <p:cTn id="2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3" dur="1" fill="hold"/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35" dur="50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evt="begin" delay="1100">
                            <p:tn/>
                          </p:cond>
                        </p:stCondLst>
                        <p:childTnLst>
                          <p:par>
                            <p:cTn id="24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4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43" dur="1" fill="hold"/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5" dur="50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evt="begin" delay="1400">
                            <p:tn/>
                          </p:cond>
                        </p:stCondLst>
                        <p:childTnLst>
                          <p:par>
                            <p:cTn id="25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53" dur="1" fill="hold"/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55" dur="500"/>
                                          <p:tgtEl>
                                            <p:spTgt spid="1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  <p:bldLst>
        <p:bldP spid="6" grpId="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2D4"/>
                </a:solidFill>
              </a:rPr>
              <a:t>0:10 – 0:22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D4"/>
                </a:solidFill>
              </a:rPr>
              <a:t>HAM10000 — 10,015 real dermoscopic images  |  7 clinical lesion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"Each image is a pixel grid the model learns to read — like a doctor reads a slide."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103120"/>
            <a:ext cx="1609344" cy="265176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l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139696"/>
            <a:ext cx="1536192" cy="1600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6032" y="3776472"/>
            <a:ext cx="1609344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80390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MELANOMA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096512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MALIGNANT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44348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C2D4"/>
                </a:solidFill>
              </a:rPr>
              <a:t>1,113 imgs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920240" y="2103120"/>
            <a:ext cx="1609344" cy="265176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7" name="Picture 206" descr="bcc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2139696"/>
            <a:ext cx="1536192" cy="1600200"/>
          </a:xfrm>
          <a:prstGeom prst="rect">
            <a:avLst/>
          </a:prstGeom>
        </p:spPr>
      </p:pic>
      <p:sp>
        <p:nvSpPr>
          <p:cNvPr id="208" name="Rectangle 207"/>
          <p:cNvSpPr/>
          <p:nvPr/>
        </p:nvSpPr>
        <p:spPr>
          <a:xfrm>
            <a:off x="1920240" y="3776472"/>
            <a:ext cx="1609344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920240" y="380390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BASAL CELL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920240" y="4096512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MALIGNANT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920240" y="44348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C2D4"/>
                </a:solidFill>
              </a:rPr>
              <a:t>514 imgs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3584448" y="2103120"/>
            <a:ext cx="1609344" cy="265176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7" name="Picture 216" descr="akiec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2139696"/>
            <a:ext cx="1536192" cy="1600200"/>
          </a:xfrm>
          <a:prstGeom prst="rect">
            <a:avLst/>
          </a:prstGeom>
        </p:spPr>
      </p:pic>
      <p:sp>
        <p:nvSpPr>
          <p:cNvPr id="218" name="Rectangle 217"/>
          <p:cNvSpPr/>
          <p:nvPr/>
        </p:nvSpPr>
        <p:spPr>
          <a:xfrm>
            <a:off x="3584448" y="3776472"/>
            <a:ext cx="1609344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584448" y="380390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ACTINIC KER.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584448" y="4096512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PRE-MALIG.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584448" y="44348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C2D4"/>
                </a:solidFill>
              </a:rPr>
              <a:t>327 imgs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248656" y="2103120"/>
            <a:ext cx="1609344" cy="265176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7" name="Picture 226" descr="nv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39696"/>
            <a:ext cx="1536192" cy="1600200"/>
          </a:xfrm>
          <a:prstGeom prst="rect">
            <a:avLst/>
          </a:prstGeom>
        </p:spPr>
      </p:pic>
      <p:sp>
        <p:nvSpPr>
          <p:cNvPr id="228" name="Rectangle 227"/>
          <p:cNvSpPr/>
          <p:nvPr/>
        </p:nvSpPr>
        <p:spPr>
          <a:xfrm>
            <a:off x="5248656" y="3776472"/>
            <a:ext cx="1609344" cy="47548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248656" y="380390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MELANO. NEVI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248656" y="4096512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BENIGN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248656" y="44348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C2D4"/>
                </a:solidFill>
              </a:rPr>
              <a:t>6,705 imgs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912864" y="2103120"/>
            <a:ext cx="1609344" cy="265176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7" name="Picture 236" descr="bkl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139696"/>
            <a:ext cx="1536192" cy="1600200"/>
          </a:xfrm>
          <a:prstGeom prst="rect">
            <a:avLst/>
          </a:prstGeom>
        </p:spPr>
      </p:pic>
      <p:sp>
        <p:nvSpPr>
          <p:cNvPr id="238" name="Rectangle 237"/>
          <p:cNvSpPr/>
          <p:nvPr/>
        </p:nvSpPr>
        <p:spPr>
          <a:xfrm>
            <a:off x="6912864" y="3776472"/>
            <a:ext cx="1609344" cy="475488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912864" y="380390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BENIGN KERAT.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912864" y="4096512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BENIGN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912864" y="44348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C2D4"/>
                </a:solidFill>
              </a:rPr>
              <a:t>1,099 imgs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577072" y="2103120"/>
            <a:ext cx="1609344" cy="265176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7" name="Picture 246" descr="df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7" y="2139696"/>
            <a:ext cx="1536192" cy="1600200"/>
          </a:xfrm>
          <a:prstGeom prst="rect">
            <a:avLst/>
          </a:prstGeom>
        </p:spPr>
      </p:pic>
      <p:sp>
        <p:nvSpPr>
          <p:cNvPr id="248" name="Rectangle 247"/>
          <p:cNvSpPr/>
          <p:nvPr/>
        </p:nvSpPr>
        <p:spPr>
          <a:xfrm>
            <a:off x="8577072" y="3776472"/>
            <a:ext cx="1609344" cy="475488"/>
          </a:xfrm>
          <a:prstGeom prst="rect">
            <a:avLst/>
          </a:prstGeom>
          <a:solidFill>
            <a:srgbClr val="276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577072" y="380390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DERMATOFIBR.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8577072" y="4096512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BENIGN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577072" y="44348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C2D4"/>
                </a:solidFill>
              </a:rPr>
              <a:t>115 imgs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241280" y="2103120"/>
            <a:ext cx="1609344" cy="265176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7" name="Picture 256" descr="vasc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7855" y="2139696"/>
            <a:ext cx="1536192" cy="1600200"/>
          </a:xfrm>
          <a:prstGeom prst="rect">
            <a:avLst/>
          </a:prstGeom>
        </p:spPr>
      </p:pic>
      <p:sp>
        <p:nvSpPr>
          <p:cNvPr id="258" name="Rectangle 257"/>
          <p:cNvSpPr/>
          <p:nvPr/>
        </p:nvSpPr>
        <p:spPr>
          <a:xfrm>
            <a:off x="10241280" y="3776472"/>
            <a:ext cx="1609344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0241280" y="380390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VASCULAR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241280" y="4096512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BENIGN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241280" y="44348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C2D4"/>
                </a:solidFill>
              </a:rPr>
              <a:t>142 imgs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256032" y="4956048"/>
            <a:ext cx="11676888" cy="50292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65760" y="501091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10,015 total images  ·  HAM10000 + ISIC 2019 + PH2  ·  Patient-level train/val/test splits (no data leakage)</a:t>
            </a:r>
          </a:p>
        </p:txBody>
      </p:sp>
      <p:pic>
        <p:nvPicPr>
          <p:cNvPr id="268" name="Picture 267" descr="1_class_distribu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" y="5532120"/>
            <a:ext cx="7498079" cy="1234440"/>
          </a:xfrm>
          <a:prstGeom prst="rect">
            <a:avLst/>
          </a:prstGeom>
        </p:spPr>
      </p:pic>
      <p:pic>
        <p:nvPicPr>
          <p:cNvPr id="269" name="Picture 268" descr="1b_triage_distribu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5532120"/>
            <a:ext cx="4069080" cy="1234440"/>
          </a:xfrm>
          <a:prstGeom prst="rect">
            <a:avLst/>
          </a:prstGeom>
        </p:spPr>
      </p:pic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0" fill="hold">
                        <p:stCondLst>
                          <p:cond evt="begin" delay="0">
                            <p:tn/>
                          </p:cond>
                        </p:stCondLst>
                        <p:childTnLst>
                          <p:par>
                            <p:cTn id="20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0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03" dur="1" fill="hold"/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05" dur="50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evt="begin" delay="120">
                            <p:tn/>
                          </p:cond>
                        </p:stCondLst>
                        <p:childTnLst>
                          <p:par>
                            <p:cTn id="2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13" dur="1" fill="hold"/>
                                          <p:tgtEl>
                                            <p:spTgt spid="20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15" dur="500"/>
                                          <p:tgtEl>
                                            <p:spTgt spid="20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evt="begin" delay="240">
                            <p:tn/>
                          </p:cond>
                        </p:stCondLst>
                        <p:childTnLst>
                          <p:par>
                            <p:cTn id="2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3" dur="1" fill="hold"/>
                                          <p:tgtEl>
                                            <p:spTgt spid="2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25" dur="500"/>
                                          <p:tgtEl>
                                            <p:spTgt spid="2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evt="begin" delay="360">
                            <p:tn/>
                          </p:cond>
                        </p:stCondLst>
                        <p:childTnLst>
                          <p:par>
                            <p:cTn id="2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3" dur="1" fill="hold"/>
                                          <p:tgtEl>
                                            <p:spTgt spid="22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35" dur="500"/>
                                          <p:tgtEl>
                                            <p:spTgt spid="22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evt="begin" delay="480">
                            <p:tn/>
                          </p:cond>
                        </p:stCondLst>
                        <p:childTnLst>
                          <p:par>
                            <p:cTn id="24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4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43" dur="1" fill="hold"/>
                                          <p:tgtEl>
                                            <p:spTgt spid="23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5" dur="500"/>
                                          <p:tgtEl>
                                            <p:spTgt spid="23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evt="begin" delay="600">
                            <p:tn/>
                          </p:cond>
                        </p:stCondLst>
                        <p:childTnLst>
                          <p:par>
                            <p:cTn id="25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53" dur="1" fill="hold"/>
                                          <p:tgtEl>
                                            <p:spTgt spid="24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55" dur="500"/>
                                          <p:tgtEl>
                                            <p:spTgt spid="24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evt="begin" delay="720">
                            <p:tn/>
                          </p:cond>
                        </p:stCondLst>
                        <p:childTnLst>
                          <p:par>
                            <p:cTn id="26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6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63" dur="1" fill="hold"/>
                                          <p:tgtEl>
                                            <p:spTgt spid="25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65" dur="500"/>
                                          <p:tgtEl>
                                            <p:spTgt spid="25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evt="begin" delay="800">
                            <p:tn/>
                          </p:cond>
                        </p:stCondLst>
                        <p:childTnLst>
                          <p:par>
                            <p:cTn id="27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73" dur="1" fill="hold"/>
                                          <p:tgtEl>
                                            <p:spTgt spid="26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75" dur="600"/>
                                          <p:tgtEl>
                                            <p:spTgt spid="26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evt="begin" delay="1000">
                            <p:tn/>
                          </p:cond>
                        </p:stCondLst>
                        <p:childTnLst>
                          <p:par>
                            <p:cTn id="28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8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3" dur="1" fill="hold"/>
                                          <p:tgtEl>
                                            <p:spTgt spid="26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85" dur="600"/>
                                          <p:tgtEl>
                                            <p:spTgt spid="26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  <p:bldLst/>
    </p:timing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2D4"/>
                </a:solidFill>
              </a:rPr>
              <a:t>0:22 – 0:40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D4"/>
                </a:solidFill>
              </a:rPr>
              <a:t>EfficientNet-B0 · Knowledge Distillation · INT8 Quantisation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64208"/>
            <a:ext cx="2011680" cy="169164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801368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INPUT
Photo
224×224 RGB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4" y="221284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D4"/>
                </a:solidFill>
              </a:rPr>
              <a:t>▶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779776" y="1664208"/>
            <a:ext cx="2011680" cy="169164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779776" y="1801368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TEACHER
Swin Transformer-Tiny
28M parameters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828032" y="221284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D4"/>
                </a:solidFill>
              </a:rPr>
              <a:t>▶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266944" y="1664208"/>
            <a:ext cx="2011680" cy="169164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5266944" y="1801368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DISTILLATION
KL-Divergence Loss
Temp=4.0 · alpha=0.7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315200" y="221284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D4"/>
                </a:solidFill>
              </a:rPr>
              <a:t>▶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754112" y="1664208"/>
            <a:ext cx="2011680" cy="16916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754112" y="1801368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STUDENT
EfficientNet-B0
5.3M params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802367" y="221284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D4"/>
                </a:solidFill>
              </a:rPr>
              <a:t>▶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241280" y="1664208"/>
            <a:ext cx="2011680" cy="1691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241280" y="1801368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INT8 QUANT
16 MB final
75% smaller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92608" y="3456432"/>
            <a:ext cx="11612880" cy="475488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92608" y="35204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71A35"/>
                </a:solidFill>
              </a:rPr>
              <a:t/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926080" y="3520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71A35"/>
                </a:solidFill>
              </a:rPr>
              <a:t>Teacher (Swin-T)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806440" y="3520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71A35"/>
                </a:solidFill>
              </a:rPr>
              <a:t>Student (EffNet-B0)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8732520" y="352044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71A35"/>
                </a:solidFill>
              </a:rPr>
              <a:t>After INT8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92608" y="4041648"/>
            <a:ext cx="11612880" cy="438912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292608" y="4096511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926080" y="409651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28M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806440" y="409651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4"/>
                </a:solidFill>
              </a:rPr>
              <a:t>5.3M  (-81%)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732520" y="4096511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5.3M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92608" y="4526280"/>
            <a:ext cx="11612880" cy="438912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92608" y="45811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Model Size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80" y="4581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108 MB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806440" y="4581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21 MB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8732520" y="458114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4"/>
                </a:solidFill>
              </a:rPr>
              <a:t>16 MB  (-75%)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92608" y="5010912"/>
            <a:ext cx="11612880" cy="438912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292608" y="50657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Macro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926080" y="5065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0.741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5806440" y="5065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0.718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8732520" y="50657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0.716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292608" y="5495544"/>
            <a:ext cx="11612880" cy="438912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92608" y="5550407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MEL Sensitivity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926080" y="55504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82.1%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5806440" y="55504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79.8%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732520" y="5550407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79.7%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292608" y="5980176"/>
            <a:ext cx="11612880" cy="438912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292608" y="60350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Inference Speed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926080" y="6035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~180 ms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5806440" y="6035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~45 ms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732520" y="603504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4"/>
                </a:solidFill>
              </a:rPr>
              <a:t>~30 ms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0" fill="hold">
                        <p:stCondLst>
                          <p:cond evt="begin" delay="0">
                            <p:tn/>
                          </p:cond>
                        </p:stCondLst>
                        <p:childTnLst>
                          <p:par>
                            <p:cTn id="20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0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03" dur="1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05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evt="begin" delay="200">
                            <p:tn/>
                          </p:cond>
                        </p:stCondLst>
                        <p:childTnLst>
                          <p:par>
                            <p:cTn id="2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13" dur="1" fill="hold"/>
                                          <p:tgtEl>
                                            <p:spTgt spid="20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15" dur="500"/>
                                          <p:tgtEl>
                                            <p:spTgt spid="20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evt="begin" delay="400">
                            <p:tn/>
                          </p:cond>
                        </p:stCondLst>
                        <p:childTnLst>
                          <p:par>
                            <p:cTn id="2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3" dur="1" fill="hold"/>
                                          <p:tgtEl>
                                            <p:spTgt spid="2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25" dur="500"/>
                                          <p:tgtEl>
                                            <p:spTgt spid="2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evt="begin" delay="600">
                            <p:tn/>
                          </p:cond>
                        </p:stCondLst>
                        <p:childTnLst>
                          <p:par>
                            <p:cTn id="2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3" dur="1" fill="hold"/>
                                          <p:tgtEl>
                                            <p:spTgt spid="22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35" dur="500"/>
                                          <p:tgtEl>
                                            <p:spTgt spid="22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evt="begin" delay="800">
                            <p:tn/>
                          </p:cond>
                        </p:stCondLst>
                        <p:childTnLst>
                          <p:par>
                            <p:cTn id="24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4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43" dur="1" fill="hold"/>
                                          <p:tgtEl>
                                            <p:spTgt spid="23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5" dur="500"/>
                                          <p:tgtEl>
                                            <p:spTgt spid="23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evt="begin" delay="1000">
                            <p:tn/>
                          </p:cond>
                        </p:stCondLst>
                        <p:childTnLst>
                          <p:par>
                            <p:cTn id="25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53" dur="1" fill="hold"/>
                                          <p:tgtEl>
                                            <p:spTgt spid="25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55" dur="400"/>
                                          <p:tgtEl>
                                            <p:spTgt spid="25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evt="begin" delay="1100">
                            <p:tn/>
                          </p:cond>
                        </p:stCondLst>
                        <p:childTnLst>
                          <p:par>
                            <p:cTn id="26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6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63" dur="1" fill="hold"/>
                                          <p:tgtEl>
                                            <p:spTgt spid="26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65" dur="400"/>
                                          <p:tgtEl>
                                            <p:spTgt spid="26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evt="begin" delay="1200">
                            <p:tn/>
                          </p:cond>
                        </p:stCondLst>
                        <p:childTnLst>
                          <p:par>
                            <p:cTn id="27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73" dur="1" fill="hold"/>
                                          <p:tgtEl>
                                            <p:spTgt spid="27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75" dur="400"/>
                                          <p:tgtEl>
                                            <p:spTgt spid="27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evt="begin" delay="1300">
                            <p:tn/>
                          </p:cond>
                        </p:stCondLst>
                        <p:childTnLst>
                          <p:par>
                            <p:cTn id="28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8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3" dur="1" fill="hold"/>
                                          <p:tgtEl>
                                            <p:spTgt spid="28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85" dur="400"/>
                                          <p:tgtEl>
                                            <p:spTgt spid="28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evt="begin" delay="1400">
                            <p:tn/>
                          </p:cond>
                        </p:stCondLst>
                        <p:childTnLst>
                          <p:par>
                            <p:cTn id="29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9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93" dur="1" fill="hold"/>
                                          <p:tgtEl>
                                            <p:spTgt spid="29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95" dur="400"/>
                                          <p:tgtEl>
                                            <p:spTgt spid="29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  <p:bldLst/>
    </p:timing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Optimisation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2D4"/>
                </a:solidFill>
              </a:rPr>
              <a:t>0:40 – 0:55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D4"/>
                </a:solidFill>
              </a:rPr>
              <a:t>"Raw softmax outputs are not calibrated. Temperature scaling fixes overconfidence."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91640"/>
            <a:ext cx="3703320" cy="50292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71907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1A35"/>
                </a:solidFill>
              </a:rPr>
              <a:t>TEMPERATURE SCALING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2212848"/>
            <a:ext cx="3703320" cy="109728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67712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 = 1.099
ECE: 0.142 → 0.038
Fixes overconfident predictions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270248" y="1691640"/>
            <a:ext cx="37033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270248" y="171907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1A35"/>
                </a:solidFill>
              </a:rPr>
              <a:t>COST-SENSITIVE
THRESHOLD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270248" y="2212848"/>
            <a:ext cx="3703320" cy="109728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361688" y="2267712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tau = 0.131
FN cost = 5× FP cost
Missing melanoma = unacceptable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8247888" y="1691640"/>
            <a:ext cx="370332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8247888" y="171907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1A35"/>
                </a:solidFill>
              </a:rPr>
              <a:t>TEST-TIME
AUGMENTATION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247888" y="2212848"/>
            <a:ext cx="3703320" cy="109728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339327" y="2267712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 views averaged
Reduces prediction variance
No retraining needed</a:t>
            </a:r>
          </a:p>
        </p:txBody>
      </p:sp>
      <p:pic>
        <p:nvPicPr>
          <p:cNvPr id="256" name="Picture 255" descr="6_threshold_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429000"/>
            <a:ext cx="3794760" cy="3200400"/>
          </a:xfrm>
          <a:prstGeom prst="rect">
            <a:avLst/>
          </a:prstGeom>
        </p:spPr>
      </p:pic>
      <p:pic>
        <p:nvPicPr>
          <p:cNvPr id="257" name="Picture 256" descr="6b_threshold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429000"/>
            <a:ext cx="3794760" cy="3200400"/>
          </a:xfrm>
          <a:prstGeom prst="rect">
            <a:avLst/>
          </a:prstGeom>
        </p:spPr>
      </p:pic>
      <p:pic>
        <p:nvPicPr>
          <p:cNvPr id="258" name="Picture 257" descr="3_brightness_contr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429000"/>
            <a:ext cx="3703320" cy="3200400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292608" y="665683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677"/>
                </a:solidFill>
              </a:rPr>
              <a:t>ROC + Threshold Comparison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51960" y="665683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677"/>
                </a:solidFill>
              </a:rPr>
              <a:t>Sensitivity vs Specificity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8229600" y="66568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677"/>
                </a:solidFill>
              </a:rPr>
              <a:t>Augmentation Verification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961120" y="1691640"/>
            <a:ext cx="292608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961120" y="173736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97.3%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961120" y="2377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Sensitivity achieved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0" fill="hold">
                        <p:stCondLst>
                          <p:cond evt="begin" delay="0">
                            <p:tn/>
                          </p:cond>
                        </p:stCondLst>
                        <p:childTnLst>
                          <p:par>
                            <p:cTn id="20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0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03" dur="1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05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evt="begin" delay="150">
                            <p:tn/>
                          </p:cond>
                        </p:stCondLst>
                        <p:childTnLst>
                          <p:par>
                            <p:cTn id="2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13" dur="1" fill="hold"/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15" dur="50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evt="begin" delay="300">
                            <p:tn/>
                          </p:cond>
                        </p:stCondLst>
                        <p:childTnLst>
                          <p:par>
                            <p:cTn id="2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3" dur="1" fill="hold"/>
                                          <p:tgtEl>
                                            <p:spTgt spid="2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25" dur="500"/>
                                          <p:tgtEl>
                                            <p:spTgt spid="2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evt="begin" delay="450">
                            <p:tn/>
                          </p:cond>
                        </p:stCondLst>
                        <p:childTnLst>
                          <p:par>
                            <p:cTn id="2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3" dur="1" fill="hold"/>
                                          <p:tgtEl>
                                            <p:spTgt spid="21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35" dur="500"/>
                                          <p:tgtEl>
                                            <p:spTgt spid="21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evt="begin" delay="600">
                            <p:tn/>
                          </p:cond>
                        </p:stCondLst>
                        <p:childTnLst>
                          <p:par>
                            <p:cTn id="24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4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43" dur="1" fill="hold"/>
                                          <p:tgtEl>
                                            <p:spTgt spid="23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5" dur="500"/>
                                          <p:tgtEl>
                                            <p:spTgt spid="23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evt="begin" delay="750">
                            <p:tn/>
                          </p:cond>
                        </p:stCondLst>
                        <p:childTnLst>
                          <p:par>
                            <p:cTn id="25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53" dur="1" fill="hold"/>
                                          <p:tgtEl>
                                            <p:spTgt spid="23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55" dur="500"/>
                                          <p:tgtEl>
                                            <p:spTgt spid="23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evt="begin" delay="900">
                            <p:tn/>
                          </p:cond>
                        </p:stCondLst>
                        <p:childTnLst>
                          <p:par>
                            <p:cTn id="26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6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63" dur="1" fill="hold"/>
                                          <p:tgtEl>
                                            <p:spTgt spid="25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65" dur="600"/>
                                          <p:tgtEl>
                                            <p:spTgt spid="25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evt="begin" delay="900">
                            <p:tn/>
                          </p:cond>
                        </p:stCondLst>
                        <p:childTnLst>
                          <p:par>
                            <p:cTn id="27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73" dur="1" fill="hold"/>
                                          <p:tgtEl>
                                            <p:spTgt spid="25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75" dur="600"/>
                                          <p:tgtEl>
                                            <p:spTgt spid="25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evt="begin" delay="900">
                            <p:tn/>
                          </p:cond>
                        </p:stCondLst>
                        <p:childTnLst>
                          <p:par>
                            <p:cTn id="28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8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3" dur="1" fill="hold"/>
                                          <p:tgtEl>
                                            <p:spTgt spid="25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85" dur="600"/>
                                          <p:tgtEl>
                                            <p:spTgt spid="25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  <p:bldLst/>
    </p:timing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Reinforcement Learning — Adaptive Threshold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2D4"/>
                </a:solidFill>
              </a:rPr>
              <a:t>0:55 – 1:10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D4"/>
                </a:solidFill>
              </a:rPr>
              <a:t>"The agent observes the malignancy score and selects a threshold — mimicking how a clinician balances risk."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2011680" cy="219456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55648"/>
            <a:ext cx="2011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STATE
Malignancy
probability
(0.0 – 1.0)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441448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D4"/>
                </a:solidFill>
              </a:rPr>
              <a:t>▶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505456" y="1664208"/>
            <a:ext cx="2011680" cy="219456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505456" y="1755648"/>
            <a:ext cx="2011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AGENT
DQN Policy
2-layer MLP
Eps-greedy
exploration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535424" y="2441448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D4"/>
                </a:solidFill>
              </a:rPr>
              <a:t>▶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736592" y="1664208"/>
            <a:ext cx="2011680" cy="21945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736592" y="1755648"/>
            <a:ext cx="2011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ACTION
Select threshold
from 20-value
grid
[0.10 – 0.90]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766560" y="2441448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D4"/>
                </a:solidFill>
              </a:rPr>
              <a:t>▶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967728" y="1664208"/>
            <a:ext cx="2011680" cy="2194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967728" y="1755648"/>
            <a:ext cx="2011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REWARD
+1 correct
-5 missed mel
-0.5 over-refer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997696" y="2441448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D4"/>
                </a:solidFill>
              </a:rPr>
              <a:t>▶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198864" y="1664208"/>
            <a:ext cx="2011680" cy="21945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198864" y="1755648"/>
            <a:ext cx="2011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TRIAGE
REFER
or
MONITOR</a:t>
            </a:r>
          </a:p>
        </p:txBody>
      </p:sp>
      <p:pic>
        <p:nvPicPr>
          <p:cNvPr id="246" name="Picture 245" descr="6c_rl_ag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4005072"/>
            <a:ext cx="7132320" cy="2697480"/>
          </a:xfrm>
          <a:prstGeom prst="rect">
            <a:avLst/>
          </a:prstGeom>
        </p:spPr>
      </p:pic>
      <p:pic>
        <p:nvPicPr>
          <p:cNvPr id="247" name="Picture 246" descr="4_rl_threshold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005072"/>
            <a:ext cx="4315968" cy="2697480"/>
          </a:xfrm>
          <a:prstGeom prst="rect">
            <a:avLst/>
          </a:prstGeom>
        </p:spPr>
      </p:pic>
      <p:sp>
        <p:nvSpPr>
          <p:cNvPr id="248" name="Rectangle 247"/>
          <p:cNvSpPr/>
          <p:nvPr/>
        </p:nvSpPr>
        <p:spPr>
          <a:xfrm>
            <a:off x="292608" y="6748272"/>
            <a:ext cx="11612880" cy="0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365760" y="6675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C2D4"/>
                </a:solidFill>
              </a:rPr>
              <a:t>Grid: 20 discrete thresholds [0.10, 0.14, 0.18 … 0.90]  ·  Epsilon decay: 1.0 → 0.05 over 500 episodes  ·  Batch size: 32  ·  Replay buffer: 2,000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0" fill="hold">
                        <p:stCondLst>
                          <p:cond evt="begin" delay="0">
                            <p:tn/>
                          </p:cond>
                        </p:stCondLst>
                        <p:childTnLst>
                          <p:par>
                            <p:cTn id="20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0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03" dur="1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05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evt="begin" delay="250">
                            <p:tn/>
                          </p:cond>
                        </p:stCondLst>
                        <p:childTnLst>
                          <p:par>
                            <p:cTn id="2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13" dur="1" fill="hold"/>
                                          <p:tgtEl>
                                            <p:spTgt spid="20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15" dur="500"/>
                                          <p:tgtEl>
                                            <p:spTgt spid="20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evt="begin" delay="500">
                            <p:tn/>
                          </p:cond>
                        </p:stCondLst>
                        <p:childTnLst>
                          <p:par>
                            <p:cTn id="2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3" dur="1" fill="hold"/>
                                          <p:tgtEl>
                                            <p:spTgt spid="2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25" dur="500"/>
                                          <p:tgtEl>
                                            <p:spTgt spid="2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evt="begin" delay="750">
                            <p:tn/>
                          </p:cond>
                        </p:stCondLst>
                        <p:childTnLst>
                          <p:par>
                            <p:cTn id="2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3" dur="1" fill="hold"/>
                                          <p:tgtEl>
                                            <p:spTgt spid="22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35" dur="500"/>
                                          <p:tgtEl>
                                            <p:spTgt spid="22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evt="begin" delay="1000">
                            <p:tn/>
                          </p:cond>
                        </p:stCondLst>
                        <p:childTnLst>
                          <p:par>
                            <p:cTn id="24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4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43" dur="1" fill="hold"/>
                                          <p:tgtEl>
                                            <p:spTgt spid="23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5" dur="500"/>
                                          <p:tgtEl>
                                            <p:spTgt spid="23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evt="begin" delay="1200">
                            <p:tn/>
                          </p:cond>
                        </p:stCondLst>
                        <p:childTnLst>
                          <p:par>
                            <p:cTn id="25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53" dur="1" fill="hold"/>
                                          <p:tgtEl>
                                            <p:spTgt spid="24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55" dur="700"/>
                                          <p:tgtEl>
                                            <p:spTgt spid="24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evt="begin" delay="1200">
                            <p:tn/>
                          </p:cond>
                        </p:stCondLst>
                        <p:childTnLst>
                          <p:par>
                            <p:cTn id="26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6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63" dur="1" fill="hold"/>
                                          <p:tgtEl>
                                            <p:spTgt spid="24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65" dur="700"/>
                                          <p:tgtEl>
                                            <p:spTgt spid="24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  <p:bldLst/>
    </p:timing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App Demo — SkinTriage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2D4"/>
                </a:solidFill>
              </a:rPr>
              <a:t>1:10 –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D4"/>
                </a:solidFill>
              </a:rPr>
              <a:t>"Here's the live app — deployed on Vercel and Render, completely free."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64208"/>
            <a:ext cx="5394960" cy="498348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1664208"/>
            <a:ext cx="5394960" cy="475488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007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D4"/>
                </a:solidFill>
              </a:rPr>
              <a:t>SkinTriage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5029200" cy="320040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8346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Drag &amp; drop a skin lesion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00C2D4"/>
                </a:solidFill>
              </a:rPr>
              <a:t>or click to browse — JPG / PNG, max 10 MB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663440"/>
            <a:ext cx="3200400" cy="50292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709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A35"/>
                </a:solidFill>
              </a:rPr>
              <a:t>📷  Use Camera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664208"/>
            <a:ext cx="5943600" cy="498348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664208"/>
            <a:ext cx="5943600" cy="475488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700784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Analysis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286000"/>
            <a:ext cx="557784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331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REFER — Malignant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743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Melanoma (MEL)  ·  Confidence: 87.4%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547872"/>
            <a:ext cx="463527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60273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3196" y="36027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87.4%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023360"/>
            <a:ext cx="328818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0782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6738" y="40782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498848"/>
            <a:ext cx="201533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5537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453" y="45537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5166360"/>
            <a:ext cx="5577840" cy="548640"/>
          </a:xfrm>
          <a:prstGeom prst="rect">
            <a:avLst/>
          </a:prstGeom>
          <a:solidFill>
            <a:srgbClr val="1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2303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✓  Non-skin images rejected: "No lesion detected"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6583680"/>
            <a:ext cx="2560320" cy="201168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65928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1A35"/>
                </a:solidFill>
              </a:rPr>
              <a:t>VERCEL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45536" y="6583680"/>
            <a:ext cx="2560320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45536" y="65928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1A35"/>
                </a:solidFill>
              </a:rPr>
              <a:t>RENDER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98464" y="6583680"/>
            <a:ext cx="256032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65928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1A35"/>
                </a:solidFill>
              </a:rPr>
              <a:t>HuggingFace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51392" y="6583680"/>
            <a:ext cx="256032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51392" y="65928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1A35"/>
                </a:solidFill>
              </a:rPr>
              <a:t>FREE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" y="6355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2D4"/>
                </a:solidFill>
              </a:rPr>
              <a:t>① Open 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45536" y="6355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2D4"/>
                </a:solidFill>
              </a:rPr>
              <a:t>② New Scan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98464" y="6355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2D4"/>
                </a:solidFill>
              </a:rPr>
              <a:t>③ Upload/Camera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1392" y="6355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2D4"/>
                </a:solidFill>
              </a:rPr>
              <a:t>④ Result in &lt;3s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2D4"/>
                </a:solidFill>
              </a:rPr>
              <a:t>1:30 – 1:45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D4"/>
                </a:solidFill>
              </a:rPr>
              <a:t>"Held-out test set · Phase 8 extended to 8 classes · Sanity check PASSED"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64208"/>
            <a:ext cx="2103120" cy="100584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719072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0.909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624327" y="1664208"/>
            <a:ext cx="210312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624327" y="1719072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97.3%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624327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SENSITIVITY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956048" y="1664208"/>
            <a:ext cx="2103120" cy="100584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956048" y="1719072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54.7%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956048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SPECIFICITY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287768" y="1664208"/>
            <a:ext cx="210312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287768" y="1719072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0.716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287768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F1 MACRO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619488" y="1664208"/>
            <a:ext cx="2103120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619488" y="1719072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9619488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CLASSES
(+no_lesion)</a:t>
            </a:r>
          </a:p>
        </p:txBody>
      </p:sp>
      <p:pic>
        <p:nvPicPr>
          <p:cNvPr id="246" name="Picture 245" descr="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788920"/>
            <a:ext cx="4023360" cy="2743200"/>
          </a:xfrm>
          <a:prstGeom prst="rect">
            <a:avLst/>
          </a:prstGeom>
        </p:spPr>
      </p:pic>
      <p:pic>
        <p:nvPicPr>
          <p:cNvPr id="247" name="Picture 246" descr="5b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788920"/>
            <a:ext cx="3840480" cy="2743200"/>
          </a:xfrm>
          <a:prstGeom prst="rect">
            <a:avLst/>
          </a:prstGeom>
        </p:spPr>
      </p:pic>
      <p:pic>
        <p:nvPicPr>
          <p:cNvPr id="248" name="Picture 247" descr="8_spli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2788920"/>
            <a:ext cx="3429000" cy="274320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292608" y="55778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677"/>
                </a:solidFill>
              </a:rPr>
              <a:t>Confusion Matrix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480560" y="55778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677"/>
                </a:solidFill>
              </a:rPr>
              <a:t>Per-Class ROC Curves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485632" y="557784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677"/>
                </a:solidFill>
              </a:rPr>
              <a:t>Phase 8 Split Distribution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292608" y="5943600"/>
            <a:ext cx="11612880" cy="777240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411480" y="598932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Phase 8 — No-Lesion Class:  Backbone FROZEN · Head-only training · 30 epochs · Sanity check PASSED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Min accuracy across original 7 classes = 0.667 (Melanoma) · no_lesion accuracy = 1.000 (100/100)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0" fill="hold">
                        <p:stCondLst>
                          <p:cond evt="begin" delay="0">
                            <p:tn/>
                          </p:cond>
                        </p:stCondLst>
                        <p:childTnLst>
                          <p:par>
                            <p:cTn id="20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0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03" dur="1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05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evt="begin" delay="180">
                            <p:tn/>
                          </p:cond>
                        </p:stCondLst>
                        <p:childTnLst>
                          <p:par>
                            <p:cTn id="2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13" dur="1" fill="hold"/>
                                          <p:tgtEl>
                                            <p:spTgt spid="20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15" dur="500"/>
                                          <p:tgtEl>
                                            <p:spTgt spid="20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evt="begin" delay="360">
                            <p:tn/>
                          </p:cond>
                        </p:stCondLst>
                        <p:childTnLst>
                          <p:par>
                            <p:cTn id="2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3" dur="1" fill="hold"/>
                                          <p:tgtEl>
                                            <p:spTgt spid="2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25" dur="500"/>
                                          <p:tgtEl>
                                            <p:spTgt spid="2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evt="begin" delay="540">
                            <p:tn/>
                          </p:cond>
                        </p:stCondLst>
                        <p:childTnLst>
                          <p:par>
                            <p:cTn id="2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3" dur="1" fill="hold"/>
                                          <p:tgtEl>
                                            <p:spTgt spid="22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35" dur="500"/>
                                          <p:tgtEl>
                                            <p:spTgt spid="22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evt="begin" delay="720">
                            <p:tn/>
                          </p:cond>
                        </p:stCondLst>
                        <p:childTnLst>
                          <p:par>
                            <p:cTn id="24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4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43" dur="1" fill="hold"/>
                                          <p:tgtEl>
                                            <p:spTgt spid="23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5" dur="500"/>
                                          <p:tgtEl>
                                            <p:spTgt spid="23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evt="begin" delay="900">
                            <p:tn/>
                          </p:cond>
                        </p:stCondLst>
                        <p:childTnLst>
                          <p:par>
                            <p:cTn id="25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53" dur="1" fill="hold"/>
                                          <p:tgtEl>
                                            <p:spTgt spid="24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55" dur="600"/>
                                          <p:tgtEl>
                                            <p:spTgt spid="24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evt="begin" delay="900">
                            <p:tn/>
                          </p:cond>
                        </p:stCondLst>
                        <p:childTnLst>
                          <p:par>
                            <p:cTn id="26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6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63" dur="1" fill="hold"/>
                                          <p:tgtEl>
                                            <p:spTgt spid="24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65" dur="600"/>
                                          <p:tgtEl>
                                            <p:spTgt spid="24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evt="begin" delay="900">
                            <p:tn/>
                          </p:cond>
                        </p:stCondLst>
                        <p:childTnLst>
                          <p:par>
                            <p:cTn id="27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73" dur="1" fill="hold"/>
                                          <p:tgtEl>
                                            <p:spTgt spid="24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75" dur="600"/>
                                          <p:tgtEl>
                                            <p:spTgt spid="24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  <p:bldLst/>
    </p:timing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Case &amp;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2D4"/>
                </a:solidFill>
              </a:rPr>
              <a:t>1:45 – 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D4"/>
                </a:solidFill>
              </a:rPr>
              <a:t>"This isn't just a demo."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64208"/>
            <a:ext cx="5577840" cy="178308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1664208"/>
            <a:ext cx="5577840" cy="4572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737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A35"/>
                </a:solidFill>
              </a:rPr>
              <a:t>Rural Clinics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23113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No dermatologist, no specialist.
GP photographs lesion — instant triage.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144768" y="1664208"/>
            <a:ext cx="5577840" cy="178308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44768" y="1664208"/>
            <a:ext cx="557784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144768" y="1737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A35"/>
                </a:solidFill>
              </a:rPr>
              <a:t>NHS Fast-Track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254496" y="223113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Prioritise urgent referrals.
Cut 4-12 week waits for high-risk cases.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92608" y="3584448"/>
            <a:ext cx="5577840" cy="178308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92608" y="3584448"/>
            <a:ext cx="557784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92608" y="36576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A35"/>
                </a:solidFill>
              </a:rPr>
              <a:t>Telemedicine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02336" y="415137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Patient uploads from home.
Only flagged cases reach a clinician.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144768" y="3584448"/>
            <a:ext cx="5577840" cy="178308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144768" y="3584448"/>
            <a:ext cx="557784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144768" y="36576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A35"/>
                </a:solidFill>
              </a:rPr>
              <a:t>Zero Cost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254496" y="415137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Vercel + Render + HuggingFace.
Entire stack costs £0 per month.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92608" y="5577840"/>
            <a:ext cx="11612880" cy="1024128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92608" y="5623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74C3C"/>
                </a:solidFill>
              </a:rPr>
              <a:t>25%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92608" y="6199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if caught late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017520" y="5715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2D4"/>
                </a:solidFill>
              </a:rPr>
              <a:t>→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931920" y="5623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D4"/>
                </a:solidFill>
              </a:rPr>
              <a:t>EARLY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931920" y="60167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D4"/>
                </a:solidFill>
              </a:rPr>
              <a:t>DETECTION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943600" y="5715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2D4"/>
                </a:solidFill>
              </a:rPr>
              <a:t>→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858000" y="5623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ABC9C"/>
                </a:solidFill>
              </a:rPr>
              <a:t>98%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858000" y="6199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5-year survival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84080" y="58064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D4"/>
                </a:solidFill>
              </a:rPr>
              <a:t>Open source · Zero cost · Real clinical impact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0" fill="hold">
                        <p:stCondLst>
                          <p:cond evt="begin" delay="0">
                            <p:tn/>
                          </p:cond>
                        </p:stCondLst>
                        <p:childTnLst>
                          <p:par>
                            <p:cTn id="20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0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03" dur="1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05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evt="begin" delay="300">
                            <p:tn/>
                          </p:cond>
                        </p:stCondLst>
                        <p:childTnLst>
                          <p:par>
                            <p:cTn id="2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13" dur="1" fill="hold"/>
                                          <p:tgtEl>
                                            <p:spTgt spid="20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15" dur="500"/>
                                          <p:tgtEl>
                                            <p:spTgt spid="20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evt="begin" delay="600">
                            <p:tn/>
                          </p:cond>
                        </p:stCondLst>
                        <p:childTnLst>
                          <p:par>
                            <p:cTn id="2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3" dur="1" fill="hold"/>
                                          <p:tgtEl>
                                            <p:spTgt spid="2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25" dur="500"/>
                                          <p:tgtEl>
                                            <p:spTgt spid="2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evt="begin" delay="900">
                            <p:tn/>
                          </p:cond>
                        </p:stCondLst>
                        <p:childTnLst>
                          <p:par>
                            <p:cTn id="2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3" dur="1" fill="hold"/>
                                          <p:tgtEl>
                                            <p:spTgt spid="22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35" dur="500"/>
                                          <p:tgtEl>
                                            <p:spTgt spid="22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evt="begin" delay="1200">
                            <p:tn/>
                          </p:cond>
                        </p:stCondLst>
                        <p:childTnLst>
                          <p:par>
                            <p:cTn id="24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4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43" dur="1" fill="hold"/>
                                          <p:tgtEl>
                                            <p:spTgt spid="23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5" dur="600"/>
                                          <p:tgtEl>
                                            <p:spTgt spid="23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evt="begin" delay="1600">
                            <p:tn/>
                          </p:cond>
                        </p:stCondLst>
                        <p:childTnLst>
                          <p:par>
                            <p:cTn id="25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53" dur="1" fill="hold"/>
                                          <p:tgtEl>
                                            <p:spTgt spid="24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55" dur="600"/>
                                          <p:tgtEl>
                                            <p:spTgt spid="24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  <p:bldLst/>
    </p:timing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00C2D4"/>
                </a:solidFill>
              </a:rPr>
              <a:t>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</a:rPr>
              <a:t>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00C2D4"/>
                </a:solidFill>
              </a:rPr>
              <a:t>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577840"/>
            <a:ext cx="5760720" cy="36576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From a photo to a clinical triage recommendation — in under 3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996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C2D4"/>
                </a:solidFill>
              </a:rPr>
              <a:t>AUC 0.909  ·  97.3% Sensitivity  ·  16 MB  ·  £0/month  ·  8 Classes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10" fill="hold">
                        <p:stCondLst>
                          <p:cond delay="indefinite"/>
                        </p:stCondLst>
                        <p:childTnLst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2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3" dur="1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5" dur="100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evt="begin" delay="400">
                            <p:tn/>
                          </p:cond>
                        </p:stCondLst>
                        <p:childTnLst>
                          <p:par>
                            <p:cTn id="2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13" dur="1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15" dur="80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evt="begin" delay="800">
                            <p:tn/>
                          </p:cond>
                        </p:stCondLst>
                        <p:childTnLst>
                          <p:par>
                            <p:cTn id="2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3" dur="1" fill="hold"/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25" dur="80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evt="begin" delay="1400">
                            <p:tn/>
                          </p:cond>
                        </p:stCondLst>
                        <p:childTnLst>
                          <p:par>
                            <p:cTn id="2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3" dur="1" fill="hold"/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35" dur="60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evt="begin" delay="1800">
                            <p:tn/>
                          </p:cond>
                        </p:stCondLst>
                        <p:childTnLst>
                          <p:par>
                            <p:cTn id="24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4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43" dur="1" fill="hold"/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5" dur="60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  <p:bldLst>
        <p:bldP spid="6" grpId="0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